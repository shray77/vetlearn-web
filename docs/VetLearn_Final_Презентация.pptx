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61853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050280"/>
            <a:ext cx="8595211" cy="658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VetLearn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267200" y="1913632"/>
            <a:ext cx="609600" cy="3810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423950" y="2205633"/>
            <a:ext cx="6296099" cy="6911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Персонализированная образовательная траектория</a:t>
            </a:r>
            <a:endParaRPr lang="en-US" sz="1800" dirty="0"/>
          </a:p>
          <a:p>
            <a:pPr algn="ctr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ветеринарного врача с применением ИИ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12535" y="3201144"/>
            <a:ext cx="571892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8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ДГАУ — Донской государственный аграрный университет, ФВМ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96667" y="3636020"/>
            <a:ext cx="475066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1300"/>
              </a:spcAft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Дикий Ярослав — Молчанов Никита — Тазаян Артур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042047" y="4223296"/>
            <a:ext cx="505975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1600"/>
              </a:spcBef>
              <a:spcAft>
                <a:spcPts val="1200"/>
              </a:spcAft>
              <a:buNone/>
            </a:pPr>
            <a:r>
              <a:rPr lang="en-US" sz="12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Конкурс «Траектория обучения будущего» — Направление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49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0"/>
            <a:ext cx="194202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ПРОБЛЕМА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431107" y="55513"/>
            <a:ext cx="395020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Актуальность: разрыв теории и практики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349151"/>
            <a:ext cx="2506117" cy="2475458"/>
          </a:xfrm>
          <a:prstGeom prst="roundRect">
            <a:avLst>
              <a:gd name="adj" fmla="val 4104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349151"/>
            <a:ext cx="0" cy="2475458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1126" y="552301"/>
            <a:ext cx="204822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Разрыв теории и практики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1126" y="1136452"/>
            <a:ext cx="2048225" cy="1603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Студенты получают теоретические знания, но не умеют применять их в реальных клинических ситуациях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18867" y="349151"/>
            <a:ext cx="2506266" cy="2475458"/>
          </a:xfrm>
          <a:prstGeom prst="roundRect">
            <a:avLst>
              <a:gd name="adj" fmla="val 4104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42680" y="349151"/>
            <a:ext cx="0" cy="2475458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0393" y="552301"/>
            <a:ext cx="2048381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Однообразная программа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20393" y="1136452"/>
            <a:ext cx="2048381" cy="133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Все студенты учатся по одному плану без учёта индивидуального уровня подготовки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28283" y="349151"/>
            <a:ext cx="2506117" cy="2475458"/>
          </a:xfrm>
          <a:prstGeom prst="roundRect">
            <a:avLst>
              <a:gd name="adj" fmla="val 4104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52096" y="349151"/>
            <a:ext cx="0" cy="2475458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9809" y="552301"/>
            <a:ext cx="2048225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Отсутствие обратной связи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329809" y="1136452"/>
            <a:ext cx="2048225" cy="133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Преподаватели не видят пробелы в знаниях каждого студента в реальном времени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600" y="2977009"/>
            <a:ext cx="7924800" cy="2476500"/>
          </a:xfrm>
          <a:prstGeom prst="roundRect">
            <a:avLst>
              <a:gd name="adj" fmla="val 5128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965150" y="3548509"/>
            <a:ext cx="222527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13%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965150" y="4081909"/>
            <a:ext cx="1947118" cy="864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выпускников работают по специальности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225850" y="3834259"/>
            <a:ext cx="12650" cy="762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3644801" y="3681859"/>
            <a:ext cx="222527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70%</a:t>
            </a:r>
            <a:endParaRPr lang="en-US" sz="4200" dirty="0"/>
          </a:p>
        </p:txBody>
      </p:sp>
      <p:sp>
        <p:nvSpPr>
          <p:cNvPr id="22" name="Text 20"/>
          <p:cNvSpPr/>
          <p:nvPr/>
        </p:nvSpPr>
        <p:spPr>
          <a:xfrm>
            <a:off x="3644801" y="4215259"/>
            <a:ext cx="194711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целевой показатель востребованности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905500" y="3834259"/>
            <a:ext cx="12650" cy="76200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24451" y="3281809"/>
            <a:ext cx="2225278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00"/>
              </a:lnSpc>
              <a:buNone/>
            </a:pPr>
            <a:r>
              <a:rPr lang="en-US" sz="42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280 000</a:t>
            </a:r>
            <a:endParaRPr lang="en-US" sz="4200" dirty="0"/>
          </a:p>
        </p:txBody>
      </p:sp>
      <p:sp>
        <p:nvSpPr>
          <p:cNvPr id="25" name="Text 23"/>
          <p:cNvSpPr/>
          <p:nvPr/>
        </p:nvSpPr>
        <p:spPr>
          <a:xfrm>
            <a:off x="6324451" y="4348609"/>
            <a:ext cx="1947118" cy="794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студентов в аграрных вузах России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92608" y="5605909"/>
            <a:ext cx="85587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Разрыв в 5,4 раза создаёт острый кадровый кризис в ветеринарной отрасли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32073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41387"/>
            <a:ext cx="1238726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РЫНОК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45022" y="196900"/>
            <a:ext cx="191077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Ключевые цифры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632073"/>
            <a:ext cx="1879550" cy="2064395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5425" y="936873"/>
            <a:ext cx="1767900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400"/>
              </a:lnSpc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49,6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665425" y="1470124"/>
            <a:ext cx="176790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млрд рублей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5919" y="1751856"/>
            <a:ext cx="154691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Объём рынка ветеринарных услуг в 2024 году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692301" y="632073"/>
            <a:ext cx="1879550" cy="2064395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748126" y="936873"/>
            <a:ext cx="1767900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400"/>
              </a:lnSpc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+16,4%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748126" y="1470124"/>
            <a:ext cx="176790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рост за год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58620" y="1751856"/>
            <a:ext cx="154691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Динамика рынка ветеринарных услуг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5002" y="632073"/>
            <a:ext cx="1879550" cy="2064395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30827" y="936873"/>
            <a:ext cx="1767900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400"/>
              </a:lnSpc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143+ тыс.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830827" y="1470124"/>
            <a:ext cx="176790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вакансий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41321" y="1751856"/>
            <a:ext cx="154691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Дефицит ветеринарных кадров в АПК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7702" y="632073"/>
            <a:ext cx="1879550" cy="2064395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8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913528" y="936873"/>
            <a:ext cx="1767900" cy="466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400"/>
              </a:lnSpc>
              <a:spcAft>
                <a:spcPts val="800"/>
              </a:spcAft>
              <a:buNone/>
            </a:pPr>
            <a:r>
              <a:rPr lang="en-US" sz="3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60 925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913528" y="1470124"/>
            <a:ext cx="1767900" cy="249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руб./мес.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24021" y="1751856"/>
            <a:ext cx="1546912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Средняя зарплата ветеринарного врача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2899618"/>
            <a:ext cx="7924800" cy="1840706"/>
          </a:xfrm>
          <a:prstGeom prst="roundRect">
            <a:avLst>
              <a:gd name="adj" fmla="val 6900"/>
            </a:avLst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965150" y="3438971"/>
            <a:ext cx="50750" cy="762000"/>
          </a:xfrm>
          <a:prstGeom prst="roundRect">
            <a:avLst>
              <a:gd name="adj" fmla="val 5004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320701" y="3153519"/>
            <a:ext cx="7406801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Проблема удержания специалистов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20701" y="3496419"/>
            <a:ext cx="7201056" cy="106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7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Только 13% выпускников работают по специальности — при потребности 70%. Разрыв в 5,4 раза создаёт острый кадровый кризис в отрасли. Государство тратит 350-500 тыс. рублей на подготовку одного студента, но большинство уходят из профессии после окончания вуза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292608" y="4943475"/>
            <a:ext cx="8558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Источники: Росстат, Минсельхоз РФ, данные рынка зооуслуг 2024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49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0"/>
            <a:ext cx="144607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АНАЛИЗ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17812" y="55513"/>
            <a:ext cx="252460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Существующие решения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349151"/>
            <a:ext cx="7924800" cy="453926"/>
          </a:xfrm>
          <a:prstGeom prst="roundRect">
            <a:avLst>
              <a:gd name="adj" fmla="val 2238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09600" y="349151"/>
            <a:ext cx="2031950" cy="453926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87301" y="476101"/>
            <a:ext cx="20118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Решение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641550" y="349151"/>
            <a:ext cx="1524000" cy="453926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819251" y="476101"/>
            <a:ext cx="140231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Формат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65550" y="349151"/>
            <a:ext cx="2031950" cy="453926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343251" y="476101"/>
            <a:ext cx="20118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Ограничение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97501" y="349151"/>
            <a:ext cx="2336899" cy="453926"/>
          </a:xfrm>
          <a:prstGeom prst="rect">
            <a:avLst/>
          </a:prstGeom>
          <a:solidFill>
            <a:srgbClr val="D8E9F3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75202" y="476101"/>
            <a:ext cx="225890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Что отсутствует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9600" y="1512391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7301" y="1006078"/>
            <a:ext cx="176037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Виртуальная клиника (Лондон)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819251" y="1006078"/>
            <a:ext cx="122702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Виртуальная реальность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43251" y="1006078"/>
            <a:ext cx="176037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Дорого, нужно оборудование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75202" y="1006078"/>
            <a:ext cx="2080573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Персонализация, мобильность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9600" y="2226469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87301" y="1720155"/>
            <a:ext cx="191126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Паравеб / СибГМУ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819251" y="1720155"/>
            <a:ext cx="122702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Цифровые двойники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343251" y="1720155"/>
            <a:ext cx="191126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Статичный контент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75202" y="1720155"/>
            <a:ext cx="2080573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ИИ-адаптация, мобильность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9600" y="2940546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87301" y="2434233"/>
            <a:ext cx="176037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Vet Study / Vet Pariksha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819251" y="2434233"/>
            <a:ext cx="1402318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Онлайн-тесты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43251" y="2434233"/>
            <a:ext cx="1760376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Фиксированная сложность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75202" y="2434233"/>
            <a:ext cx="2080573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Адаптивная сложность, ИИ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9600" y="3654623"/>
            <a:ext cx="7924800" cy="0"/>
          </a:xfrm>
          <a:prstGeom prst="line">
            <a:avLst/>
          </a:prstGeom>
          <a:noFill/>
          <a:ln w="9525">
            <a:solidFill>
              <a:srgbClr val="D8E9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7301" y="3148310"/>
            <a:ext cx="20118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PharmVR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819251" y="3148310"/>
            <a:ext cx="122702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Виртуальная фармакология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43251" y="3148310"/>
            <a:ext cx="191126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Узкая специализация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75202" y="3148310"/>
            <a:ext cx="2258907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Комплексный подход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09600" y="3760887"/>
            <a:ext cx="7924800" cy="853976"/>
          </a:xfrm>
          <a:prstGeom prst="roundRect">
            <a:avLst>
              <a:gd name="adj" fmla="val 11897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87301" y="3887837"/>
            <a:ext cx="1911266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VetLearn (наш проект)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819251" y="3887837"/>
            <a:ext cx="1227028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Мобильное приложение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43251" y="3887837"/>
            <a:ext cx="201185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—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375202" y="3887837"/>
            <a:ext cx="2080573" cy="648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 + Адаптация + Мобильность + Экосистема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11480" y="4818013"/>
            <a:ext cx="8321040" cy="325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VetLearn — единственное решение, объединяющее адаптивное обучение, три ИИ-модели и мобильный доступ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49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0"/>
            <a:ext cx="163645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РЕШЕНИЕ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176463" y="55513"/>
            <a:ext cx="405307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VetLearn — обучающий модуль в VetVoice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349151"/>
            <a:ext cx="3555950" cy="1277094"/>
          </a:xfrm>
          <a:prstGeom prst="roundRect">
            <a:avLst>
              <a:gd name="adj" fmla="val 795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349151"/>
            <a:ext cx="0" cy="1277094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0375" y="526852"/>
            <a:ext cx="335018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Интеграция в VetVoice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0375" y="808732"/>
            <a:ext cx="325712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Модуль встроен в мобильное приложение VetVoice (Flutter). Доступ с телефона в любой момент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1778645"/>
            <a:ext cx="3555950" cy="1277094"/>
          </a:xfrm>
          <a:prstGeom prst="roundRect">
            <a:avLst>
              <a:gd name="adj" fmla="val 795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1778645"/>
            <a:ext cx="0" cy="1277094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0375" y="1956346"/>
            <a:ext cx="335018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Онбординг и адаптация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0375" y="2238226"/>
            <a:ext cx="325712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Входной тест определяет уровень знаний и формирует персональную образовательную траекторию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208139"/>
            <a:ext cx="3555950" cy="1277094"/>
          </a:xfrm>
          <a:prstGeom prst="roundRect">
            <a:avLst>
              <a:gd name="adj" fmla="val 795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3208139"/>
            <a:ext cx="0" cy="1277094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375" y="3385840"/>
            <a:ext cx="335018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ИИ-движок: три модели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0375" y="3667720"/>
            <a:ext cx="3257126" cy="690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Z.ai для генерации контента, Perplexity для валидации данных, Claude для аналитики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" y="4637633"/>
            <a:ext cx="3555950" cy="1063823"/>
          </a:xfrm>
          <a:prstGeom prst="roundRect">
            <a:avLst>
              <a:gd name="adj" fmla="val 9550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33412" y="4637633"/>
            <a:ext cx="0" cy="1063823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375" y="4815334"/>
            <a:ext cx="3350187" cy="2496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Дашборд прогресса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0375" y="5097214"/>
            <a:ext cx="325712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Визуализация результатов и мотивация через серию обучений и достижения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19451" y="1304925"/>
            <a:ext cx="4114949" cy="698302"/>
          </a:xfrm>
          <a:prstGeom prst="roundRect">
            <a:avLst>
              <a:gd name="adj" fmla="val 18187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529066" y="1558826"/>
            <a:ext cx="3895719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КЛЮЧЕВЫЕ МЕТРИКИ МОДУЛЯ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419451" y="2104727"/>
            <a:ext cx="1303883" cy="901452"/>
          </a:xfrm>
          <a:prstGeom prst="roundRect">
            <a:avLst>
              <a:gd name="adj" fmla="val 1127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502304" y="2282428"/>
            <a:ext cx="113817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12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4502304" y="2637979"/>
            <a:ext cx="113817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тем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24835" y="2104727"/>
            <a:ext cx="1304032" cy="901452"/>
          </a:xfrm>
          <a:prstGeom prst="roundRect">
            <a:avLst>
              <a:gd name="adj" fmla="val 1127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907673" y="2282428"/>
            <a:ext cx="113835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50+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5907673" y="2637979"/>
            <a:ext cx="113835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вопросов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230368" y="2104727"/>
            <a:ext cx="1304032" cy="901452"/>
          </a:xfrm>
          <a:prstGeom prst="roundRect">
            <a:avLst>
              <a:gd name="adj" fmla="val 1127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313206" y="2282428"/>
            <a:ext cx="1138357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2449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7313206" y="2561779"/>
            <a:ext cx="113835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препаратов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419451" y="3107680"/>
            <a:ext cx="1303883" cy="901452"/>
          </a:xfrm>
          <a:prstGeom prst="roundRect">
            <a:avLst>
              <a:gd name="adj" fmla="val 1127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502304" y="3285381"/>
            <a:ext cx="1138178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4502304" y="3640931"/>
            <a:ext cx="113817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этапов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824835" y="3107680"/>
            <a:ext cx="1304032" cy="901452"/>
          </a:xfrm>
          <a:prstGeom prst="roundRect">
            <a:avLst>
              <a:gd name="adj" fmla="val 1127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07673" y="3285381"/>
            <a:ext cx="1138357" cy="383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8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5907673" y="3640931"/>
            <a:ext cx="113835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уровня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230368" y="3107680"/>
            <a:ext cx="1304032" cy="901452"/>
          </a:xfrm>
          <a:prstGeom prst="roundRect">
            <a:avLst>
              <a:gd name="adj" fmla="val 11271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7313206" y="3285381"/>
            <a:ext cx="1138357" cy="30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22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 типа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7313206" y="3564731"/>
            <a:ext cx="1138357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вопросов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419451" y="4110633"/>
            <a:ext cx="4114949" cy="634901"/>
          </a:xfrm>
          <a:prstGeom prst="roundRect">
            <a:avLst>
              <a:gd name="adj" fmla="val 16003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4449875" y="4237583"/>
            <a:ext cx="40541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Работающий прототип на Flutter — код написан, а не просто концепция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" y="355550"/>
            <a:ext cx="863600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300" spc="200" kern="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ПРЕИМУЩЕСТВА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0" y="625376"/>
            <a:ext cx="8636000" cy="427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12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Почему VetLearn уникален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09600" y="1275457"/>
            <a:ext cx="7924800" cy="987326"/>
          </a:xfrm>
          <a:prstGeom prst="roundRect">
            <a:avLst>
              <a:gd name="adj" fmla="val 1029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47725" y="143738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977057" y="1532632"/>
            <a:ext cx="116265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55675" y="1437382"/>
            <a:ext cx="74958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Экосистема VetVoice — база 2449 ветеринарных препаратов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55675" y="1700808"/>
            <a:ext cx="728763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Модуль встроен в существующее приложение с уникальной базой данных препаратов с дозировками, показаниями и ограничениями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389733"/>
            <a:ext cx="7924800" cy="987326"/>
          </a:xfrm>
          <a:prstGeom prst="roundRect">
            <a:avLst>
              <a:gd name="adj" fmla="val 1029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47725" y="2551658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977057" y="2646908"/>
            <a:ext cx="116265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55675" y="2551658"/>
            <a:ext cx="74958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Три ИИ-модели вместо одной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55675" y="2815084"/>
            <a:ext cx="728763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Z.ai для генерации контента, Perplexity для поиска и валидации данных, Claude для аналитики и тяжёлых вычислений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" y="3504009"/>
            <a:ext cx="7924800" cy="987326"/>
          </a:xfrm>
          <a:prstGeom prst="roundRect">
            <a:avLst>
              <a:gd name="adj" fmla="val 1029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47725" y="366593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977057" y="3761184"/>
            <a:ext cx="116265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55675" y="3665934"/>
            <a:ext cx="74958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Настоящая адаптивность — зона ближайшего развития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55675" y="3929360"/>
            <a:ext cx="7287630" cy="432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 уровня сложности, 5 этапов траектории, автоматическая подстройка после каждого квиза по проценту правильных ответов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9600" y="4618286"/>
            <a:ext cx="7924800" cy="987326"/>
          </a:xfrm>
          <a:prstGeom prst="roundRect">
            <a:avLst>
              <a:gd name="adj" fmla="val 10290"/>
            </a:avLst>
          </a:prstGeom>
          <a:solidFill>
            <a:srgbClr val="FFFFFF">
              <a:alpha val="8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47725" y="4780211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977057" y="4875461"/>
            <a:ext cx="116265" cy="1782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55675" y="4780211"/>
            <a:ext cx="7495848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Работающий прототип — не просто концепция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55675" y="5043636"/>
            <a:ext cx="7287630" cy="99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>
                    <a:alpha val="65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Код написан на Flutter: три экрана (обучение, квиз, результаты), адаптивный алгоритм, геймификация, мобильный доступ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09600" y="5758011"/>
            <a:ext cx="2539901" cy="793552"/>
          </a:xfrm>
          <a:prstGeom prst="roundRect">
            <a:avLst>
              <a:gd name="adj" fmla="val 9602"/>
            </a:avLst>
          </a:prstGeom>
          <a:solidFill>
            <a:srgbClr val="D7A042">
              <a:alpha val="15000"/>
            </a:srgbClr>
          </a:solidFill>
          <a:ln w="9525">
            <a:solidFill>
              <a:srgbClr val="D7A0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42690" y="5869037"/>
            <a:ext cx="227372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Геймификация: серии дней, баллы, достижения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01901" y="5758011"/>
            <a:ext cx="2540050" cy="793552"/>
          </a:xfrm>
          <a:prstGeom prst="roundRect">
            <a:avLst>
              <a:gd name="adj" fmla="val 9602"/>
            </a:avLst>
          </a:prstGeom>
          <a:solidFill>
            <a:srgbClr val="D7A042">
              <a:alpha val="15000"/>
            </a:srgbClr>
          </a:solidFill>
          <a:ln w="9525">
            <a:solidFill>
              <a:srgbClr val="D7A0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3434987" y="5869037"/>
            <a:ext cx="2273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Кроссплатформа: Android, iOS, Web из единой кодовой базы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94350" y="5758011"/>
            <a:ext cx="2540050" cy="793552"/>
          </a:xfrm>
          <a:prstGeom prst="roundRect">
            <a:avLst>
              <a:gd name="adj" fmla="val 9602"/>
            </a:avLst>
          </a:prstGeom>
          <a:solidFill>
            <a:srgbClr val="D7A042">
              <a:alpha val="15000"/>
            </a:srgbClr>
          </a:solidFill>
          <a:ln w="9525">
            <a:solidFill>
              <a:srgbClr val="D7A042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127436" y="5869037"/>
            <a:ext cx="227387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 типа вопросов: выбор, множественный, да/нет, числовой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49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0"/>
            <a:ext cx="2175272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АДАПТАЦИЯ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625477" y="55513"/>
            <a:ext cx="186868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Система обучения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771227"/>
            <a:ext cx="3840426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 этапов образовательной траектории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9600" y="136624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42652" y="1443930"/>
            <a:ext cx="1073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651" y="1142554"/>
            <a:ext cx="3098899" cy="803077"/>
          </a:xfrm>
          <a:prstGeom prst="roundRect">
            <a:avLst>
              <a:gd name="adj" fmla="val 9489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19051" y="1244054"/>
            <a:ext cx="335291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Онбординг-тест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19051" y="1463129"/>
            <a:ext cx="29338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Определение начального уровня по 12 темам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9600" y="2270820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2652" y="2348508"/>
            <a:ext cx="1073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651" y="2047131"/>
            <a:ext cx="3098899" cy="803077"/>
          </a:xfrm>
          <a:prstGeom prst="roundRect">
            <a:avLst>
              <a:gd name="adj" fmla="val 9489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19051" y="2148632"/>
            <a:ext cx="335291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Базовые знания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19051" y="2367707"/>
            <a:ext cx="29338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Фундаментальные понятия фармакологии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9600" y="3080147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42652" y="3157835"/>
            <a:ext cx="1073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66651" y="2951708"/>
            <a:ext cx="3098899" cy="612577"/>
          </a:xfrm>
          <a:prstGeom prst="roundRect">
            <a:avLst>
              <a:gd name="adj" fmla="val 12439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1219051" y="3053209"/>
            <a:ext cx="318527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Глубокое погружение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19051" y="3272284"/>
            <a:ext cx="318527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Сложные клинические сценарии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3889474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42652" y="3967163"/>
            <a:ext cx="1073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6651" y="3665786"/>
            <a:ext cx="3098899" cy="803077"/>
          </a:xfrm>
          <a:prstGeom prst="roundRect">
            <a:avLst>
              <a:gd name="adj" fmla="val 9489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1219051" y="3767286"/>
            <a:ext cx="318527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Практические сценарии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219051" y="3986361"/>
            <a:ext cx="29338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Реальные кейсы из ветеринарной практики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09600" y="4794052"/>
            <a:ext cx="355550" cy="355550"/>
          </a:xfrm>
          <a:prstGeom prst="roundRect">
            <a:avLst>
              <a:gd name="adj" fmla="val 25717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42652" y="4871740"/>
            <a:ext cx="107335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066651" y="4570363"/>
            <a:ext cx="3098899" cy="803077"/>
          </a:xfrm>
          <a:prstGeom prst="roundRect">
            <a:avLst>
              <a:gd name="adj" fmla="val 9489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219051" y="4671864"/>
            <a:ext cx="3185273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Экзамен и сертификация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19051" y="4890939"/>
            <a:ext cx="2933804" cy="252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Итоговая проверка знаний по всем темам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419451" y="349151"/>
            <a:ext cx="4114949" cy="2043857"/>
          </a:xfrm>
          <a:prstGeom prst="roundRect">
            <a:avLst>
              <a:gd name="adj" fmla="val 6214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648051" y="577751"/>
            <a:ext cx="395036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Динамическая сложность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4648051" y="926902"/>
            <a:ext cx="3840636" cy="13365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 уровня: начальный, базовый, продвинутый, экспертный. Система подстраивается автоматически — верный ответ повышает сложность, ошибка даёт дополнительную практику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419451" y="2545407"/>
            <a:ext cx="4114949" cy="1548854"/>
          </a:xfrm>
          <a:prstGeom prst="roundRect">
            <a:avLst>
              <a:gd name="adj" fmla="val 8200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648051" y="2774007"/>
            <a:ext cx="3950369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ИИ-рекомендации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4648051" y="3123158"/>
            <a:ext cx="3840636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Персональные подсказки, объяснения ошибок и выбор следующей темы на основе анализа прогресса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419451" y="4246662"/>
            <a:ext cx="4114949" cy="1548854"/>
          </a:xfrm>
          <a:prstGeom prst="roundRect">
            <a:avLst>
              <a:gd name="adj" fmla="val 8200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648051" y="4475262"/>
            <a:ext cx="4169834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Геймификация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48051" y="4824413"/>
            <a:ext cx="3840636" cy="319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Баллы, достижения, серия дней подряд для поддержания мотивации и регулярности обучения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550"/>
            <a:ext cx="853440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spc="200" kern="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ТЕХНОЛОГИИ ИИ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600" y="625376"/>
            <a:ext cx="8534400" cy="3949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Три уровня интеллекта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092547"/>
            <a:ext cx="8534400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Каждая модель решает свою задачу в образовательном процессе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9600" y="1565523"/>
            <a:ext cx="2523083" cy="3644801"/>
          </a:xfrm>
          <a:prstGeom prst="roundRect">
            <a:avLst>
              <a:gd name="adj" fmla="val 503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22275" y="1803648"/>
            <a:ext cx="2097732" cy="631627"/>
          </a:xfrm>
          <a:prstGeom prst="roundRect">
            <a:avLst>
              <a:gd name="adj" fmla="val 12064"/>
            </a:avLst>
          </a:prstGeom>
          <a:solidFill>
            <a:srgbClr val="D7A042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34303" y="1905149"/>
            <a:ext cx="22736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Z.ai (ГЛМ)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91145" y="2143274"/>
            <a:ext cx="215999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Генерация контента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275" y="2587675"/>
            <a:ext cx="2097732" cy="232566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Создание вопросов и объяснений по 12 темам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Персональные рекомендации на основе слабых мест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Адаптация формулировок под уровень студента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0384" y="1565523"/>
            <a:ext cx="2523232" cy="3644801"/>
          </a:xfrm>
          <a:prstGeom prst="roundRect">
            <a:avLst>
              <a:gd name="adj" fmla="val 5033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23059" y="1803648"/>
            <a:ext cx="2097881" cy="822127"/>
          </a:xfrm>
          <a:prstGeom prst="roundRect">
            <a:avLst>
              <a:gd name="adj" fmla="val 9269"/>
            </a:avLst>
          </a:prstGeom>
          <a:solidFill>
            <a:srgbClr val="D7A042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35072" y="1905149"/>
            <a:ext cx="227385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Perplexity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77188" y="2143274"/>
            <a:ext cx="1989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Поиск и валидация данных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23059" y="2778175"/>
            <a:ext cx="2097881" cy="232566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Проверка данных по препаратам и дозировкам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Анализ рынка труда и требований работодателей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Актуализация образовательных материалов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11317" y="1565523"/>
            <a:ext cx="2523083" cy="3644801"/>
          </a:xfrm>
          <a:prstGeom prst="roundRect">
            <a:avLst>
              <a:gd name="adj" fmla="val 5034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23992" y="1803648"/>
            <a:ext cx="2097732" cy="631627"/>
          </a:xfrm>
          <a:prstGeom prst="roundRect">
            <a:avLst>
              <a:gd name="adj" fmla="val 12064"/>
            </a:avLst>
          </a:prstGeom>
          <a:solidFill>
            <a:srgbClr val="D7A042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136020" y="1905149"/>
            <a:ext cx="227367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Claude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2862" y="2143274"/>
            <a:ext cx="2159993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Аналитика и вычисления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23992" y="2587675"/>
            <a:ext cx="2097732" cy="18088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Расчёт оптимальной траектории обучения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Анализ паттернов ошибок студентов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Предсказание результатов и прогноз прогресса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09600" y="5413474"/>
            <a:ext cx="2556867" cy="653951"/>
          </a:xfrm>
          <a:prstGeom prst="roundRect">
            <a:avLst>
              <a:gd name="adj" fmla="val 11652"/>
            </a:avLst>
          </a:prstGeom>
          <a:solidFill>
            <a:srgbClr val="D7A04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8976" y="5540425"/>
            <a:ext cx="2418115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Z.ai — мозг: генерирует и адаптирует контент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93418" y="5413474"/>
            <a:ext cx="2557016" cy="653951"/>
          </a:xfrm>
          <a:prstGeom prst="roundRect">
            <a:avLst>
              <a:gd name="adj" fmla="val 11652"/>
            </a:avLst>
          </a:prstGeom>
          <a:solidFill>
            <a:srgbClr val="D7A04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62790" y="5540425"/>
            <a:ext cx="241827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Perplexity — щит: проверяет и валидирует данные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77384" y="5413474"/>
            <a:ext cx="2557016" cy="653951"/>
          </a:xfrm>
          <a:prstGeom prst="roundRect">
            <a:avLst>
              <a:gd name="adj" fmla="val 11652"/>
            </a:avLst>
          </a:prstGeom>
          <a:solidFill>
            <a:srgbClr val="D7A042">
              <a:alpha val="1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046756" y="5540425"/>
            <a:ext cx="2418271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Claude — двигатель: анализирует и вычисляет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3277195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КАК ЭТО РАБОТАЕТ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543746" y="236488"/>
            <a:ext cx="1487507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 в VetLearn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740569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89087" y="827782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20701" y="740569"/>
            <a:ext cx="779079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Адаптация сложности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0701" y="1038969"/>
            <a:ext cx="7574384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После каждого квиза ИИ анализирует процент правильных ответов. При 90% и выше — сложность повышается, при менее 40% — снижается. Это зона ближайшего развития, при которой студент учится максимально эффективно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9600" y="1933873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9087" y="2021086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0701" y="1933873"/>
            <a:ext cx="779079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Анализ слабых мест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0701" y="2232273"/>
            <a:ext cx="7574384" cy="534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 отслеживает результаты по каждой из 12 тем и выявляет категории с наименьшим процентом правильных ответов, формируя карту знаний конкретного студента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9600" y="2879675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9087" y="2966889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320701" y="2879675"/>
            <a:ext cx="779079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Персональные рекомендации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20701" y="3178076"/>
            <a:ext cx="7574384" cy="80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На основе анализа формируется список тем для повторения, подбираются вопросы нужного уровня, генерируются объяснения ошибок с опорой на базу 2449 препаратов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9600" y="4072979"/>
            <a:ext cx="507950" cy="507950"/>
          </a:xfrm>
          <a:prstGeom prst="roundRect">
            <a:avLst>
              <a:gd name="adj" fmla="val 20002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9087" y="4160193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0701" y="4072979"/>
            <a:ext cx="779079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Прогнозирование траектории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20701" y="4371380"/>
            <a:ext cx="7574384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 определяет текущий этап обучения (диагностика, базовый, практический, специализация, профессиональный) и планирует следующий шаг на основе истории ответов и времени прохождения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957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35136"/>
            <a:ext cx="2242780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ПРОГРАММА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681734" y="190649"/>
            <a:ext cx="27594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12 тематических категорий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619571"/>
            <a:ext cx="1885950" cy="1187351"/>
          </a:xfrm>
          <a:prstGeom prst="roundRect">
            <a:avLst>
              <a:gd name="adj" fmla="val 8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09600" y="638621"/>
            <a:ext cx="1885950" cy="0"/>
          </a:xfrm>
          <a:prstGeom prst="line">
            <a:avLst/>
          </a:prstGeom>
          <a:noFill/>
          <a:ln w="38100">
            <a:solidFill>
              <a:srgbClr val="D7A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7301" y="810071"/>
            <a:ext cx="1607076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Основы фармакологии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87301" y="1273522"/>
            <a:ext cx="160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Классы препаратов, механизмы действия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22500" y="619571"/>
            <a:ext cx="1886099" cy="1187351"/>
          </a:xfrm>
          <a:prstGeom prst="roundRect">
            <a:avLst>
              <a:gd name="adj" fmla="val 8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2622500" y="638621"/>
            <a:ext cx="1886099" cy="0"/>
          </a:xfrm>
          <a:prstGeom prst="line">
            <a:avLst/>
          </a:prstGeom>
          <a:noFill/>
          <a:ln w="38100">
            <a:solidFill>
              <a:srgbClr val="D7A0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00201" y="810071"/>
            <a:ext cx="1744995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Расчёт дозировок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00201" y="1054447"/>
            <a:ext cx="1607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Формулы, виды животных, массы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35550" y="619571"/>
            <a:ext cx="1885950" cy="1187351"/>
          </a:xfrm>
          <a:prstGeom prst="roundRect">
            <a:avLst>
              <a:gd name="adj" fmla="val 8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35550" y="638621"/>
            <a:ext cx="1885950" cy="0"/>
          </a:xfrm>
          <a:prstGeom prst="line">
            <a:avLst/>
          </a:prstGeom>
          <a:noFill/>
          <a:ln w="38100">
            <a:solidFill>
              <a:srgbClr val="D7A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3250" y="810071"/>
            <a:ext cx="1607076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Взаимодействие препаратов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3250" y="1273522"/>
            <a:ext cx="160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Совместимость, противопоказания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648450" y="619571"/>
            <a:ext cx="1885950" cy="1187351"/>
          </a:xfrm>
          <a:prstGeom prst="roundRect">
            <a:avLst>
              <a:gd name="adj" fmla="val 85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648450" y="638621"/>
            <a:ext cx="1885950" cy="0"/>
          </a:xfrm>
          <a:prstGeom prst="line">
            <a:avLst/>
          </a:prstGeom>
          <a:noFill/>
          <a:ln w="38100">
            <a:solidFill>
              <a:srgbClr val="D7A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26151" y="810071"/>
            <a:ext cx="1607076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Антимикробные средства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826151" y="1273522"/>
            <a:ext cx="160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Антибиотики, противомикробные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9600" y="1933873"/>
            <a:ext cx="1885950" cy="1377851"/>
          </a:xfrm>
          <a:prstGeom prst="roundRect">
            <a:avLst>
              <a:gd name="adj" fmla="val 73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9600" y="1952923"/>
            <a:ext cx="1885950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7301" y="2124373"/>
            <a:ext cx="1836658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Вакцинация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87301" y="2368748"/>
            <a:ext cx="160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Календари, схемы, типы вакцин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22500" y="1933873"/>
            <a:ext cx="1886099" cy="1377851"/>
          </a:xfrm>
          <a:prstGeom prst="roundRect">
            <a:avLst>
              <a:gd name="adj" fmla="val 73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2622500" y="1952923"/>
            <a:ext cx="1886099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00201" y="2124373"/>
            <a:ext cx="1836837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Паразитология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800201" y="2368748"/>
            <a:ext cx="16072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Виды паразитов, борьба с ними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35550" y="1933873"/>
            <a:ext cx="1885950" cy="1377851"/>
          </a:xfrm>
          <a:prstGeom prst="roundRect">
            <a:avLst>
              <a:gd name="adj" fmla="val 73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635550" y="1952923"/>
            <a:ext cx="1885950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3250" y="2124373"/>
            <a:ext cx="1607076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Инфекционные болезни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13250" y="2587823"/>
            <a:ext cx="16070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Диагностика, эпидемиология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648450" y="1933873"/>
            <a:ext cx="1885950" cy="1377851"/>
          </a:xfrm>
          <a:prstGeom prst="roundRect">
            <a:avLst>
              <a:gd name="adj" fmla="val 73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648450" y="1952923"/>
            <a:ext cx="1885950" cy="0"/>
          </a:xfrm>
          <a:prstGeom prst="line">
            <a:avLst/>
          </a:prstGeom>
          <a:noFill/>
          <a:ln w="38100">
            <a:solidFill>
              <a:srgbClr val="1E5F8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26151" y="2124373"/>
            <a:ext cx="1607076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Экстренная помощь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26151" y="2587823"/>
            <a:ext cx="1607076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Отравления, неотложные состояния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09600" y="3438674"/>
            <a:ext cx="1870323" cy="1377851"/>
          </a:xfrm>
          <a:prstGeom prst="roundRect">
            <a:avLst>
              <a:gd name="adj" fmla="val 73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609600" y="3457724"/>
            <a:ext cx="1870323" cy="0"/>
          </a:xfrm>
          <a:prstGeom prst="line">
            <a:avLst/>
          </a:prstGeom>
          <a:noFill/>
          <a:ln w="38100">
            <a:solidFill>
              <a:srgbClr val="D7A0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7301" y="3629174"/>
            <a:ext cx="1817906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Сроки ожидания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87301" y="3873550"/>
            <a:ext cx="1590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Каренция, молоко, убой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606873" y="3438674"/>
            <a:ext cx="1870323" cy="1377851"/>
          </a:xfrm>
          <a:prstGeom prst="roundRect">
            <a:avLst>
              <a:gd name="adj" fmla="val 73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2606873" y="3457724"/>
            <a:ext cx="1870323" cy="0"/>
          </a:xfrm>
          <a:prstGeom prst="line">
            <a:avLst/>
          </a:prstGeom>
          <a:noFill/>
          <a:ln w="38100">
            <a:solidFill>
              <a:srgbClr val="D7A0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84574" y="3629174"/>
            <a:ext cx="1590668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Видовые особенности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2784574" y="4092625"/>
            <a:ext cx="15906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КРС, МРС, свиньи, птица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604147" y="3438674"/>
            <a:ext cx="1870323" cy="1377851"/>
          </a:xfrm>
          <a:prstGeom prst="roundRect">
            <a:avLst>
              <a:gd name="adj" fmla="val 73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604147" y="3457724"/>
            <a:ext cx="1870323" cy="0"/>
          </a:xfrm>
          <a:prstGeom prst="line">
            <a:avLst/>
          </a:prstGeom>
          <a:noFill/>
          <a:ln w="38100">
            <a:solidFill>
              <a:srgbClr val="D7A0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81848" y="3629174"/>
            <a:ext cx="1590668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Побочные эффекты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781848" y="4092625"/>
            <a:ext cx="1590668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Аллергии, токсичность, симптомы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601420" y="3438674"/>
            <a:ext cx="1932980" cy="1377851"/>
          </a:xfrm>
          <a:prstGeom prst="roundRect">
            <a:avLst>
              <a:gd name="adj" fmla="val 73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Shape 48"/>
          <p:cNvSpPr/>
          <p:nvPr/>
        </p:nvSpPr>
        <p:spPr>
          <a:xfrm>
            <a:off x="6601420" y="3457724"/>
            <a:ext cx="1932980" cy="0"/>
          </a:xfrm>
          <a:prstGeom prst="line">
            <a:avLst/>
          </a:prstGeom>
          <a:noFill/>
          <a:ln w="38100">
            <a:solidFill>
              <a:srgbClr val="D7A0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79121" y="3629174"/>
            <a:ext cx="1798439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Противопоказания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779121" y="3873550"/>
            <a:ext cx="1656457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Беременность, возраст, состояние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292608" y="4943475"/>
            <a:ext cx="85587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0AAD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Каждая тема опирается на базу 2449 препаратов из VetVoice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71110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80975"/>
            <a:ext cx="2062758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ИНТЕРФЕЙС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531715" y="236488"/>
            <a:ext cx="2110282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Экраны приложения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962918"/>
            <a:ext cx="2506117" cy="3506539"/>
          </a:xfrm>
          <a:prstGeom prst="roundRect">
            <a:avLst>
              <a:gd name="adj" fmla="val 5068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38200" y="1191518"/>
            <a:ext cx="50750" cy="406301"/>
          </a:xfrm>
          <a:prstGeom prst="roundRect">
            <a:avLst>
              <a:gd name="adj" fmla="val 5004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838200" y="1724769"/>
            <a:ext cx="2458700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Экран обучения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8200" y="2077194"/>
            <a:ext cx="2151363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Главный хаб модуля VetLearn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38200" y="2534394"/>
            <a:ext cx="2048917" cy="18088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Карточка профиля с прогрессом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ИИ-рекомендации по темам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Обучающая траектория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12 карточек тем с прогрессом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318867" y="927646"/>
            <a:ext cx="2506266" cy="3577084"/>
          </a:xfrm>
          <a:prstGeom prst="roundRect">
            <a:avLst>
              <a:gd name="adj" fmla="val 5067"/>
            </a:avLst>
          </a:prstGeom>
          <a:solidFill>
            <a:srgbClr val="F0F6FA"/>
          </a:solidFill>
          <a:ln w="19050">
            <a:solidFill>
              <a:srgbClr val="D8E9F3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566517" y="1175296"/>
            <a:ext cx="50750" cy="406301"/>
          </a:xfrm>
          <a:prstGeom prst="roundRect">
            <a:avLst>
              <a:gd name="adj" fmla="val 50049"/>
            </a:avLst>
          </a:prstGeom>
          <a:solidFill>
            <a:srgbClr val="1E5F8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566517" y="1708547"/>
            <a:ext cx="2111514" cy="596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Экран тестирования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517" y="2337197"/>
            <a:ext cx="21115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Прохождение адаптивного квиза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517" y="2794397"/>
            <a:ext cx="2010966" cy="155044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Адаптивные вопросы (4 типа)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ИИ-подсказки и объяснения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Прогресс-бар по теме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Таймер на вопрос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28283" y="1058168"/>
            <a:ext cx="2506117" cy="3316039"/>
          </a:xfrm>
          <a:prstGeom prst="roundRect">
            <a:avLst>
              <a:gd name="adj" fmla="val 5068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256883" y="1286768"/>
            <a:ext cx="50750" cy="406301"/>
          </a:xfrm>
          <a:prstGeom prst="roundRect">
            <a:avLst>
              <a:gd name="adj" fmla="val 50049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256883" y="1820019"/>
            <a:ext cx="2335765" cy="298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Экран результатов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256883" y="2172444"/>
            <a:ext cx="2335765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Детальный анализ ответов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56883" y="2439144"/>
            <a:ext cx="2048917" cy="1808851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Круговой прогресс с процентом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Детальный разбор ошибок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Рекомендации от ИИ</a:t>
            </a:r>
            <a:endParaRPr lang="en-US" sz="1200" dirty="0"/>
          </a:p>
          <a:p>
            <a:pPr algn="l" marL="101600" indent="-101600">
              <a:lnSpc>
                <a:spcPts val="192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Сравнение с прошлыми результатами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92608" y="4721275"/>
            <a:ext cx="8558784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Flutter — кроссплатформенная разработка: Android, iOS, Web из единой кодовой базы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349151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0"/>
            <a:ext cx="153876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РЕСУРСЫ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095054" y="55513"/>
            <a:ext cx="2285205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Образовательная база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447973"/>
            <a:ext cx="3835450" cy="2040731"/>
          </a:xfrm>
          <a:prstGeom prst="roundRect">
            <a:avLst>
              <a:gd name="adj" fmla="val 6223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447973"/>
            <a:ext cx="0" cy="2040731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0375" y="651123"/>
            <a:ext cx="36520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Учебная литература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0375" y="990749"/>
            <a:ext cx="3381524" cy="1372493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Субботин — «Ветеринарная фармакология»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Соколов — «Фармакология»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Самородова — «Ветеринарная фармакология и рецептура»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600" y="2641104"/>
            <a:ext cx="3835450" cy="1203127"/>
          </a:xfrm>
          <a:prstGeom prst="roundRect">
            <a:avLst>
              <a:gd name="adj" fmla="val 1055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633412" y="2641104"/>
            <a:ext cx="0" cy="1203127"/>
          </a:xfrm>
          <a:prstGeom prst="line">
            <a:avLst/>
          </a:prstGeom>
          <a:noFill/>
          <a:ln w="47625">
            <a:solidFill>
              <a:srgbClr val="1E5F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0375" y="2844254"/>
            <a:ext cx="36520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Справочник препаратов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0375" y="3183880"/>
            <a:ext cx="3550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База 2449 препаратов с дозировками, показаниями и ограничениями из VetVoice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9600" y="3996630"/>
            <a:ext cx="3835450" cy="1203127"/>
          </a:xfrm>
          <a:prstGeom prst="roundRect">
            <a:avLst>
              <a:gd name="adj" fmla="val 10556"/>
            </a:avLst>
          </a:prstGeom>
          <a:solidFill>
            <a:srgbClr val="F0F6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33412" y="3996630"/>
            <a:ext cx="0" cy="1203127"/>
          </a:xfrm>
          <a:prstGeom prst="line">
            <a:avLst/>
          </a:prstGeom>
          <a:noFill/>
          <a:ln w="47625">
            <a:solidFill>
              <a:srgbClr val="D7A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0375" y="4199781"/>
            <a:ext cx="365204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Клинические случаи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0375" y="4539407"/>
            <a:ext cx="3550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Реальные кейсы из ветеринарной практики для анализа и обучения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98950" y="349151"/>
            <a:ext cx="3835450" cy="1807220"/>
          </a:xfrm>
          <a:prstGeom prst="roundRect">
            <a:avLst>
              <a:gd name="adj" fmla="val 7027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902101" y="552301"/>
            <a:ext cx="37034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Цифровые платформы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02101" y="917377"/>
            <a:ext cx="3429149" cy="1097994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Stepik — «Основы ветеринарии»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Stepik — «Цифровые технологии в ветеринарии»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Coursera — курсы по здоровью животных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698950" y="2308771"/>
            <a:ext cx="3835450" cy="1289298"/>
          </a:xfrm>
          <a:prstGeom prst="roundRect">
            <a:avLst>
              <a:gd name="adj" fmla="val 9850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902101" y="2511921"/>
            <a:ext cx="37034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Международные справочники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902101" y="2876996"/>
            <a:ext cx="3429149" cy="548997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Merck Veterinary Manual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Plumb's Veterinary Drug Handbook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698950" y="3750469"/>
            <a:ext cx="3835450" cy="1548259"/>
          </a:xfrm>
          <a:prstGeom prst="roundRect">
            <a:avLst>
              <a:gd name="adj" fmla="val 8203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902101" y="3953619"/>
            <a:ext cx="3703481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ИИ-инструменты разработки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02101" y="4318695"/>
            <a:ext cx="3429149" cy="82349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Z.ai — генерация контента и кода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Perplexity — поиск и валидация данных</a:t>
            </a:r>
            <a:endParaRPr lang="en-US" sz="1200" dirty="0"/>
          </a:p>
          <a:p>
            <a:pPr algn="l" marL="101600" indent="-101600">
              <a:lnSpc>
                <a:spcPts val="2040"/>
              </a:lnSpc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Claude — аналитика и вычисления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616297"/>
          </a:xfrm>
          <a:prstGeom prst="rect">
            <a:avLst/>
          </a:prstGeom>
          <a:solidFill>
            <a:srgbClr val="14446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09600" y="133499"/>
            <a:ext cx="1769864" cy="3770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РАЗВИТИЕ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287637" y="189012"/>
            <a:ext cx="232541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Перспективы развития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600" y="616297"/>
            <a:ext cx="1847850" cy="3066901"/>
          </a:xfrm>
          <a:prstGeom prst="roundRect">
            <a:avLst>
              <a:gd name="adj" fmla="val 6873"/>
            </a:avLst>
          </a:prstGeom>
          <a:solidFill>
            <a:srgbClr val="F0F6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254175" y="84489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444064" y="957560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3434" y="1530548"/>
            <a:ext cx="146018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Голосовой ИИ-ассистент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3434" y="2082998"/>
            <a:ext cx="146018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Консультации в стиле чат-бота для оперативных ответов по фармакологии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35151" y="616297"/>
            <a:ext cx="1847999" cy="3066901"/>
          </a:xfrm>
          <a:prstGeom prst="roundRect">
            <a:avLst>
              <a:gd name="adj" fmla="val 6872"/>
            </a:avLst>
          </a:prstGeom>
          <a:solidFill>
            <a:srgbClr val="F0F6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279725" y="84489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469615" y="957560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2828981" y="1530548"/>
            <a:ext cx="14603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Виртуальная реальность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28981" y="2082998"/>
            <a:ext cx="1460339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Виртуальные клинические случаи и хирургические операции для практики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0850" y="616297"/>
            <a:ext cx="1847850" cy="3066901"/>
          </a:xfrm>
          <a:prstGeom prst="roundRect">
            <a:avLst>
              <a:gd name="adj" fmla="val 6873"/>
            </a:avLst>
          </a:prstGeom>
          <a:solidFill>
            <a:srgbClr val="F0F6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305425" y="84489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495315" y="957560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854684" y="1530548"/>
            <a:ext cx="1460182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Интеграция с вузами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54684" y="2082998"/>
            <a:ext cx="146018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Внедрение в учебный процесс ДГАУ и аграрных вузов юга России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686401" y="616297"/>
            <a:ext cx="1847999" cy="3066901"/>
          </a:xfrm>
          <a:prstGeom prst="roundRect">
            <a:avLst>
              <a:gd name="adj" fmla="val 6872"/>
            </a:avLst>
          </a:prstGeom>
          <a:solidFill>
            <a:srgbClr val="F0F6FA"/>
          </a:solidFill>
          <a:ln/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330976" y="844897"/>
            <a:ext cx="558701" cy="558701"/>
          </a:xfrm>
          <a:prstGeom prst="roundRect">
            <a:avLst>
              <a:gd name="adj" fmla="val 163665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520866" y="957560"/>
            <a:ext cx="178772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880231" y="1530548"/>
            <a:ext cx="1460339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Расширение базы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880231" y="2082998"/>
            <a:ext cx="1460339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4085B0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Увеличение базы вопросов до 500+, новые темы, региональные стандарты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09600" y="3860899"/>
            <a:ext cx="3873550" cy="1282601"/>
          </a:xfrm>
          <a:prstGeom prst="roundRect">
            <a:avLst>
              <a:gd name="adj" fmla="val 9902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66026" y="4064050"/>
            <a:ext cx="4160699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280 000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726069" y="4502200"/>
            <a:ext cx="3640611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студентов — масштабирование на все аграрные вузы юга России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660850" y="3860899"/>
            <a:ext cx="3873550" cy="1282601"/>
          </a:xfrm>
          <a:prstGeom prst="roundRect">
            <a:avLst>
              <a:gd name="adj" fmla="val 9902"/>
            </a:avLst>
          </a:prstGeom>
          <a:solidFill>
            <a:srgbClr val="0C2A4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621293" y="4064050"/>
            <a:ext cx="3952664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Сертификация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777320" y="4302175"/>
            <a:ext cx="3640611" cy="473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8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Микросертификаты, признаваемые работодателями ветеринарной отрасли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C2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075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08450" y="64025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274320" y="1072009"/>
            <a:ext cx="8595360" cy="592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32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267200" y="1874490"/>
            <a:ext cx="609600" cy="38100"/>
          </a:xfrm>
          <a:prstGeom prst="rect">
            <a:avLst/>
          </a:prstGeom>
          <a:solidFill>
            <a:srgbClr val="D7A0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04390" y="2166491"/>
            <a:ext cx="6135070" cy="3188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7A042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VetLearn — Будущее ветеринарного образования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031950" y="2766566"/>
            <a:ext cx="5079950" cy="12650"/>
          </a:xfrm>
          <a:prstGeom prst="rect">
            <a:avLst/>
          </a:prstGeom>
          <a:solidFill>
            <a:srgbClr val="FFFFFF">
              <a:alpha val="1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344388" y="3084016"/>
            <a:ext cx="445507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Дикий Ярослав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Капитан, ИИ-разработка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09968" y="3433167"/>
            <a:ext cx="4323915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Молчанов Никита</a:t>
            </a:r>
            <a:pPr algn="ctr"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Данные и аналитика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705558" y="3782318"/>
            <a:ext cx="3732734" cy="2674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Тазаян Артур</a:t>
            </a:r>
            <a:pPr algn="ctr" indent="0" marL="0">
              <a:spcAft>
                <a:spcPts val="24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 — Научный наставник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57793" y="4334768"/>
            <a:ext cx="5028414" cy="2366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>
                    <a:alpha val="60000"/>
                  </a:srgbClr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ДГАУ | ФВМ | Конкурс «Траектория обучения будущего»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2026-04-09T19:15:10Z</dcterms:created>
  <dcterms:modified xsi:type="dcterms:W3CDTF">2026-04-09T19:15:10Z</dcterms:modified>
</cp:coreProperties>
</file>